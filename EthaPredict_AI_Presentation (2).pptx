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3E8E7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8E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8E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Gradient Boosting
(XGBoost stand-in)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0.678</c:v>
                </c:pt>
                <c:pt idx="1">
                  <c:v>0.988</c:v>
                </c:pt>
                <c:pt idx="2">
                  <c:v>0.989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Arial"/>
              </a:rPr>
              <a:t>Total CO2 (kg) per 100 km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CO2 (kg)</c:v>
                </c:pt>
              </c:strCache>
            </c:strRef>
          </c:tx>
          <c:spPr>
            <a:solidFill>
              <a:srgbClr val="3E8E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E0</c:v>
                  </c:pt>
                  <c:pt idx="1">
                    <c:v>E10</c:v>
                  </c:pt>
                  <c:pt idx="2">
                    <c:v>E20</c:v>
                  </c:pt>
                  <c:pt idx="3">
                    <c:v>E85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13.86</c:v>
                </c:pt>
                <c:pt idx="1">
                  <c:v>20.07</c:v>
                </c:pt>
                <c:pt idx="2">
                  <c:v>25.8</c:v>
                </c:pt>
                <c:pt idx="3">
                  <c:v>48.9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/home/claude/pptx_assets/gasp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801014"/>
            <a:ext cx="592531" cy="59253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ETHAPREDICT AI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5204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Prediction of Ethanol Fuel Consumption,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Refueling Time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&amp; AI Project  |  Smart Ethanol Fuel Intelligence System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309360" cy="4389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machine learning predict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consumption, remaining range, and refueling time 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ethanol-blended vehicle — using live vehicle telemetry, fuel data, and driving conditions?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16052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ethanol blends carry less energy per liter (E85 has ~27% less energy than gasoline, per the US DOE), so mileage and range shift with blend, conditions, and vehicle behavior — a single static mileage number isn't enough.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06640" y="1554480"/>
            <a:ext cx="502920" cy="50292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8" name="Image 0" descr="/home/claude/pptx_assets/gasp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049" y="1624889"/>
            <a:ext cx="362102" cy="3621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92440" y="1581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level &amp; ethanol blend 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2423160"/>
            <a:ext cx="502920" cy="50292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11" name="Image 1" descr="/home/claude/pptx_assets/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049" y="24935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2440" y="24505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road type, driving pattern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406640" y="3291840"/>
            <a:ext cx="502920" cy="50292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14" name="Image 2" descr="/home/claude/pptx_assets/te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049" y="3362249"/>
            <a:ext cx="362102" cy="3621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092440" y="33192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AC usage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406640" y="4160520"/>
            <a:ext cx="502920" cy="50292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17" name="Image 3" descr="/home/claude/pptx_asset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049" y="4230929"/>
            <a:ext cx="362102" cy="3621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092440" y="4187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RPM, acceleration, load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084832" cy="30175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4" name="Shape 2"/>
          <p:cNvSpPr/>
          <p:nvPr/>
        </p:nvSpPr>
        <p:spPr>
          <a:xfrm>
            <a:off x="1316736" y="2148840"/>
            <a:ext cx="731520" cy="73152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5" name="Image 0" descr="/home/claude/pptx_assets/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149" y="225125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30632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Fuel Data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033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RPM, temp, load, ethanol %, fuel level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679192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1828800"/>
            <a:ext cx="2084832" cy="30175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3602736" y="2148840"/>
            <a:ext cx="731520" cy="73152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11" name="Image 1" descr="/home/claude/pptx_asset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149" y="225125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35808" y="30632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37033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encoding, scaling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965192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5212080" y="1828800"/>
            <a:ext cx="2084832" cy="30175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6" name="Shape 12"/>
          <p:cNvSpPr/>
          <p:nvPr/>
        </p:nvSpPr>
        <p:spPr>
          <a:xfrm>
            <a:off x="5888736" y="2148840"/>
            <a:ext cx="731520" cy="73152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17" name="Image 2" descr="/home/claude/pptx_asset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49" y="225125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21808" y="30632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349240" y="37033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7251192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7498080" y="1828800"/>
            <a:ext cx="2084832" cy="30175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22" name="Shape 17"/>
          <p:cNvSpPr/>
          <p:nvPr/>
        </p:nvSpPr>
        <p:spPr>
          <a:xfrm>
            <a:off x="8174736" y="2148840"/>
            <a:ext cx="731520" cy="73152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23" name="Image 3" descr="/home/claude/pptx_asset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149" y="2251253"/>
            <a:ext cx="526694" cy="52669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07808" y="30632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Prediction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635240" y="37033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fuel use (L)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9537192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27" name="Shape 21"/>
          <p:cNvSpPr/>
          <p:nvPr/>
        </p:nvSpPr>
        <p:spPr>
          <a:xfrm>
            <a:off x="9784080" y="1828800"/>
            <a:ext cx="2084832" cy="3017520"/>
          </a:xfrm>
          <a:prstGeom prst="rect">
            <a:avLst/>
          </a:prstGeom>
          <a:solidFill>
            <a:srgbClr val="0E4749"/>
          </a:solidFill>
          <a:ln/>
        </p:spPr>
      </p:sp>
      <p:sp>
        <p:nvSpPr>
          <p:cNvPr id="28" name="Shape 22"/>
          <p:cNvSpPr/>
          <p:nvPr/>
        </p:nvSpPr>
        <p:spPr>
          <a:xfrm>
            <a:off x="10460736" y="214884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9" name="Image 4" descr="/home/claude/pptx_assets/c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3149" y="2251253"/>
            <a:ext cx="526694" cy="52669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93808" y="30632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Time &amp; Alert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9921240" y="37033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Km, hours, refuel warning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turn raw driving conditions into an actionable refuel decision.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47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synthetic data, built to mirror real vehicle telemetry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92024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12,006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08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cleaning)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514600" cy="192024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108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14600" cy="192024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108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blends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/ E10 / E20 / E85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920240"/>
            <a:ext cx="2514600" cy="192024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108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staged data-quality issues (for the cleaning phase):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3E8E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709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(3-5%)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470916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3E8E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37560" y="4709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(~2%)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52160" y="470916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3E8E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0" y="4709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outlier spikes (~1%)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58200" y="470916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3E8E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49640" y="4709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categorical text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Insights</a:t>
            </a:r>
            <a:endParaRPr lang="en-US" sz="3200" dirty="0"/>
          </a:p>
        </p:txBody>
      </p:sp>
      <p:pic>
        <p:nvPicPr>
          <p:cNvPr id="3" name="Image 0" descr="/home/claude/ethapredict/figures/01_ethanol_vs_consum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212080" cy="3566160"/>
          </a:xfrm>
          <a:prstGeom prst="rect">
            <a:avLst/>
          </a:prstGeom>
        </p:spPr>
      </p:pic>
      <p:pic>
        <p:nvPicPr>
          <p:cNvPr id="4" name="Image 1" descr="/home/claude/ethapredict/figures/07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394960" cy="35661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4937760"/>
            <a:ext cx="10881360" cy="14173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14400" y="50749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blend, distance, and driving time drive fuel consumption most strongly. Traffic, AC, and load effects are real but smaller — visible only after engineering a per-km consumption rate.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94360" cy="59436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4" name="Image 0" descr="/home/claude/pptx_asset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159197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417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Rate (L/km)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0136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per-km driving effects from trip length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94360" cy="59436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8" name="Image 1" descr="/home/claude/pptx_assets/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50" y="159197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0880" y="1417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Score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180136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 of traffic level + road type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594360" cy="59436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12" name="Image 2" descr="/home/claude/pptx_asset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314645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2971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Intensity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35584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blend of speed, acceleration, RPM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63640" y="3063240"/>
            <a:ext cx="594360" cy="59436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16" name="Image 3" descr="/home/claude/pptx_assets/te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850" y="314645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40880" y="2971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Load Indicator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335584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usage weighted by ambient temperature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40080" y="4617720"/>
            <a:ext cx="594360" cy="59436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20" name="Image 4" descr="/home/claude/pptx_asset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" y="4700930"/>
            <a:ext cx="427939" cy="42793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4526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Time (hr)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417320" y="491032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÷ average speed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263640" y="4617720"/>
            <a:ext cx="594360" cy="59436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24" name="Image 5" descr="/home/claude/pptx_assets/c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6850" y="4700930"/>
            <a:ext cx="427939" cy="427939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40880" y="4526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Range (km)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7040880" y="491032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remaining × predicted efficiency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guard: efficiency/range/time features are excluded from model inputs — they're derived from the target itself.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· trained on 17 engineered features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3886200" cy="4480560"/>
          </a:xfrm>
          <a:prstGeom prst="rect">
            <a:avLst/>
          </a:prstGeom>
          <a:solidFill>
            <a:srgbClr val="0E4749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148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23544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6384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3544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6384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23544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 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863840" y="4572000"/>
            <a:ext cx="3383280" cy="0"/>
          </a:xfrm>
          <a:prstGeom prst="line">
            <a:avLst/>
          </a:prstGeom>
          <a:noFill/>
          <a:ln w="12700">
            <a:solidFill>
              <a:srgbClr val="3E8E7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47548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capture non-linear interactions (traffic × AC × load) that linear regression misses.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Engine —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12 L remaining · E20 · high traffic · AC on · city driving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291840" cy="2651760"/>
          </a:xfrm>
          <a:prstGeom prst="rect">
            <a:avLst/>
          </a:prstGeom>
          <a:solidFill>
            <a:srgbClr val="0E4749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22402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pptx_assets/gasp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533" y="23426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154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8.54 L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Consumption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965960"/>
            <a:ext cx="3291840" cy="2651760"/>
          </a:xfrm>
          <a:prstGeom prst="rect">
            <a:avLst/>
          </a:prstGeom>
          <a:solidFill>
            <a:srgbClr val="0E4749"/>
          </a:solidFill>
          <a:ln/>
        </p:spPr>
      </p:sp>
      <p:sp>
        <p:nvSpPr>
          <p:cNvPr id="10" name="Shape 7"/>
          <p:cNvSpPr/>
          <p:nvPr/>
        </p:nvSpPr>
        <p:spPr>
          <a:xfrm>
            <a:off x="5760720" y="22402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x_asset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33" y="234269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154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70.3 km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Range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291840" cy="2651760"/>
          </a:xfrm>
          <a:prstGeom prst="rect">
            <a:avLst/>
          </a:prstGeom>
          <a:solidFill>
            <a:srgbClr val="0E4749"/>
          </a:solidFill>
          <a:ln/>
        </p:spPr>
      </p:sp>
      <p:sp>
        <p:nvSpPr>
          <p:cNvPr id="15" name="Shape 11"/>
          <p:cNvSpPr/>
          <p:nvPr/>
        </p:nvSpPr>
        <p:spPr>
          <a:xfrm>
            <a:off x="9418320" y="22402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/home/claude/pptx_asset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3" y="234269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38160" y="3154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1.41 hr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Time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22960" y="489204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2A93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WARNING — plan to refuel soon (within ~70 km)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Module — CO2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100 km trip, compared across ethanol blends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023360" cy="448056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0E4749"/>
          </a:solidFill>
          <a:ln/>
        </p:spPr>
      </p:sp>
      <p:pic>
        <p:nvPicPr>
          <p:cNvPr id="7" name="Image 0" descr="/home/claude/pptx_asset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10" y="190561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nuance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0" y="2514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has lower carbon content per liter (1.51 vs 2.31 kg CO2/L) — but blended vehicles also burn more liters per km. In this model, E85's higher fuel use outweighs its lower carbon factor, so total trip CO2 is highest at E85.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Coverage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36192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Definition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1536192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4173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2-3. Synthetic Dataset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093976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212848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0939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Cleaning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2093976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2212848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0939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Exploratory Data Analysis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2770632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889504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889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77063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Feature Engineering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2770632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2889504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889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77063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Model Training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3447288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3566160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566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4472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Model Evaluation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3447288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3566160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566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4472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Prediction Engine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4123944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" y="4242816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242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34440" y="41239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Dashboard (Streamlit)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217920" y="4123944"/>
            <a:ext cx="5257800" cy="566928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355080" y="4242816"/>
            <a:ext cx="329184" cy="32918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4242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812280" y="41239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Real-World IoT Roadmap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008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phases complete — full pipeline runs end-to-end in ~25 seconds.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— Real-World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2011680"/>
            <a:ext cx="822960" cy="822960"/>
          </a:xfrm>
          <a:prstGeom prst="ellipse">
            <a:avLst/>
          </a:prstGeom>
          <a:solidFill>
            <a:srgbClr val="3E8E7E"/>
          </a:solidFill>
          <a:ln/>
        </p:spPr>
      </p:sp>
      <p:pic>
        <p:nvPicPr>
          <p:cNvPr id="4" name="Image 0" descr="/home/claude/pptx_asset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934" y="2126894"/>
            <a:ext cx="592531" cy="5925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337560" y="2011680"/>
            <a:ext cx="822960" cy="822960"/>
          </a:xfrm>
          <a:prstGeom prst="ellipse">
            <a:avLst/>
          </a:prstGeom>
          <a:solidFill>
            <a:srgbClr val="3E8E7E"/>
          </a:solidFill>
          <a:ln/>
        </p:spPr>
      </p:sp>
      <p:pic>
        <p:nvPicPr>
          <p:cNvPr id="8" name="Image 1" descr="/home/claude/pptx_assets/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774" y="2126894"/>
            <a:ext cx="592531" cy="59253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8892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/ Sensors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486400" y="2011680"/>
            <a:ext cx="822960" cy="822960"/>
          </a:xfrm>
          <a:prstGeom prst="ellipse">
            <a:avLst/>
          </a:prstGeom>
          <a:solidFill>
            <a:srgbClr val="3E8E7E"/>
          </a:solidFill>
          <a:ln/>
        </p:spPr>
      </p:sp>
      <p:pic>
        <p:nvPicPr>
          <p:cNvPr id="12" name="Image 2" descr="/home/claude/pptx_asset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614" y="2126894"/>
            <a:ext cx="592531" cy="59253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93776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Raspberry Pi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681228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7635240" y="2011680"/>
            <a:ext cx="822960" cy="822960"/>
          </a:xfrm>
          <a:prstGeom prst="ellipse">
            <a:avLst/>
          </a:prstGeom>
          <a:solidFill>
            <a:srgbClr val="3E8E7E"/>
          </a:solidFill>
          <a:ln/>
        </p:spPr>
      </p:sp>
      <p:pic>
        <p:nvPicPr>
          <p:cNvPr id="16" name="Image 3" descr="/home/claude/pptx_asset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454" y="2126894"/>
            <a:ext cx="592531" cy="59253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896112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9784080" y="201168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0" name="Image 4" descr="/home/claude/pptx_assets/gaspum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294" y="2126894"/>
            <a:ext cx="592531" cy="59253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235440" y="2971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Dashboard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40080" y="3931920"/>
            <a:ext cx="10881360" cy="1920240"/>
          </a:xfrm>
          <a:prstGeom prst="rect">
            <a:avLst/>
          </a:prstGeom>
          <a:solidFill>
            <a:srgbClr val="0E4749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960120" y="41605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OBD-II does not reliably expose ethanol % or exact fuel level on most vehicles. A real deployment must separate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sensor data, vehicle-reported data, and user-entered data.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28016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/home/claude/pptx_assets/gasp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8346" y="142097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EthaPredict AI — Smart Ethanol Fuel Intelligence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37760" y="4114800"/>
            <a:ext cx="22860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XGBoost · Streamlit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2026-09-19T07:24:45Z</dcterms:created>
  <dcterms:modified xsi:type="dcterms:W3CDTF">2026-09-19T07:24:45Z</dcterms:modified>
</cp:coreProperties>
</file>